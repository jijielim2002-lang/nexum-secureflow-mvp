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3730A3">
              <a:alpha val="18000"/>
            </a:srgbClr>
          </a:solidFill>
          <a:ln w="12700">
            <a:solidFill>
              <a:srgbClr val="3730A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818CF8">
              <a:alpha val="14000"/>
            </a:srgbClr>
          </a:solidFill>
          <a:ln w="1270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38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NEXUM SECUREFLOW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Cross-Border Trade Finance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" y="2944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Investment Presentation ·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493008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112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Live · MVP Built · First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Investment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Nexum SecureFlow is ready for institutional backing.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$5.8T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trade finance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shut out of traditional bank instruments — our market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89888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29000" y="25786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platform: no competitor covers the full cycle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389888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09360" y="25786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already built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0175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in production on live pilot — not a concept deck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Trade Is Broken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105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408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Trade Finance: Inaccessible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907792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of credit require audited financials, collateral, and relationships. 40% of SMEs are rejected. Processing takes weeks. Only large corporates qualify.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64208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105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3408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Payments: Unprotected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907792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service providers extend credit with no recourse. Importers pay upfront with no guarantee of execution. Disputes resolved by who shouts loudest.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64208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105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3408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Chain: Invisible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907792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supply chains have no shared visibility layer. Financing decisions are made on faith. No structured record of supplier reliability exists.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Massive, Underserved 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trade finance gap is structural — and growing. SMEs represent 90% of businesses but receive less than 20% of trade finance.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92808" y="2532888"/>
            <a:ext cx="1426464" cy="1426464"/>
          </a:xfrm>
          <a:prstGeom prst="ellipse">
            <a:avLst/>
          </a:prstGeom>
          <a:solidFill>
            <a:srgbClr val="818CF8">
              <a:alpha val="5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057400"/>
            <a:ext cx="2377440" cy="237744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54480"/>
            <a:ext cx="3383280" cy="3383280"/>
          </a:xfrm>
          <a:prstGeom prst="ellipse">
            <a:avLst/>
          </a:prstGeom>
          <a:solidFill>
            <a:srgbClr val="3730A3">
              <a:alpha val="50000"/>
            </a:srgbClr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141732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6088" y="1572768"/>
            <a:ext cx="502920" cy="502920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088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14721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$10T+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97880" y="18379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Trade Finance Market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242316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6088" y="2578608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24780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$5.8T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9788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Cross-Border Trade Finance Gap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342900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6088" y="3584448"/>
            <a:ext cx="502920" cy="50292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34838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97880" y="38496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+ ANZ Addressable (Y1–Y3)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A Complete Trade Operating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modules. One platform. Every stage of cross-border trade covered.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36" y="1298448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5316" y="1417320"/>
            <a:ext cx="475488" cy="47548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531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947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SecureFlow Jobs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65276" y="23042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5276" y="2313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11196" y="1298448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1276" y="1417320"/>
            <a:ext cx="475488" cy="47548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127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66060" y="1947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31236" y="23042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1236" y="2313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77156" y="1298448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7236" y="141732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723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32020" y="1947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+ RFQ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97196" y="23042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7196" y="2313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43116" y="1298448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3196" y="14173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319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97980" y="19476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Bundles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63156" y="23042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3156" y="2313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28216" y="2907792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68296" y="301752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68296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78308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Chains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48256" y="39044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8256" y="39136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94176" y="2907792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34256" y="301752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34256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74904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Credit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14216" y="39044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14216" y="39136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60136" y="2907792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0216" y="3017520"/>
            <a:ext cx="475488" cy="475488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71500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TradeCycle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0176" y="3904488"/>
            <a:ext cx="1115568" cy="256032"/>
          </a:xfrm>
          <a:prstGeom prst="roundRect">
            <a:avLst>
              <a:gd name="adj" fmla="val 14286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0176" y="39136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Planning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Platform Innovations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 freight platform and no traditional trade finance product has combined before.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6908" y="1389888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1508760"/>
            <a:ext cx="512064" cy="512064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3896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4068" y="212140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TradeCycle — Deposit Multiplier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633472"/>
            <a:ext cx="22768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model: Available / Reserved / Settlement balance split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per trade obligation — prevents overcommitment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capacity multiplier analysis per deal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financing simulation types with fee estimates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— compliance-ready from day 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8980" y="1389888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50876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06140" y="212140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Chain Network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33572" y="2633472"/>
            <a:ext cx="22768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supply chain map: Factory → Retailer in one view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masking: Full / Masked / Hidden per node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financing model and payment link tracking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Multi-jurisdiction, multi-currency chain support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row security — each party sees only their 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1052" y="1389888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50876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8212" y="212140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Credit Scoring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5644" y="2633472"/>
            <a:ext cx="22768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scoring: +10 on time, -8 very late, -10 dispute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payment history without bank involvement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monitoring with automated reminder timeline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payment uploaded and logged per record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visible to platform — basis for future credit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monetisation streams across the platform — from transaction fees to SaaS tiers to financing facilitation.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3258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350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3807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Fees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0.5–1.5%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2514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payment released through platform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852928"/>
            <a:ext cx="21945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44368"/>
            <a:ext cx="213969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SecureFlow job payments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TradeFlow supplier releases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bundle per-leg payments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point of confirmation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3258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3350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3807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Facilitation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029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1.6–2.6%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2514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 on partner-funded amounts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2852928"/>
            <a:ext cx="21945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2944368"/>
            <a:ext cx="213969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TradeCycle financing simulations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shipment deferment: 2.0%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deposit: 2.2%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working capital: 2.4%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53912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3912" y="13258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3350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65392" y="13807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2029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299–999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91072" y="2514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per company tier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91072" y="2852928"/>
            <a:ext cx="21945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944368"/>
            <a:ext cx="213969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up to 5 active jobs / month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unlimited jobs + analytics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custom chains + white-label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pre-payment discount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 live. Platform is built. We are entering our first customer pilot cycle.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31673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" y="1664208"/>
            <a:ext cx="457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261872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3502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335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 Built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35331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SecureFlow Jobs, TradeFlow, Marketplace + RFQ live on Next.js + Supabase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193852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" y="2286000"/>
            <a:ext cx="457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1883664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956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19568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Finance Modules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197510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Bundles, Trade Chain Network, Vendor Credit Terms deployed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256032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" y="2907792"/>
            <a:ext cx="457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2505456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25786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TradeCycle Launch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259689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model, reserve system, capacity analysis, and financing simulations live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" y="3182112"/>
            <a:ext cx="347472" cy="347472"/>
          </a:xfrm>
          <a:prstGeom prst="ellipse">
            <a:avLst/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1228" y="3529584"/>
            <a:ext cx="4572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3127248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151829"/>
          </a:solidFill>
          <a:ln w="12700">
            <a:solidFill>
              <a:srgbClr val="1518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200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3200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Programme Opens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32120" y="321868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 of importers, exporters, and logistics providers onboarded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" y="3803904"/>
            <a:ext cx="347472" cy="347472"/>
          </a:xfrm>
          <a:prstGeom prst="ellipse">
            <a:avLst/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1228" y="4151376"/>
            <a:ext cx="45720" cy="2560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" y="3749040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151829"/>
          </a:solidFill>
          <a:ln w="12700">
            <a:solidFill>
              <a:srgbClr val="1518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8221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40280" y="3822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8404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remittance and financing partners connected to platform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" y="4425696"/>
            <a:ext cx="347472" cy="347472"/>
          </a:xfrm>
          <a:prstGeom prst="ellipse">
            <a:avLst/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24128" y="4370832"/>
            <a:ext cx="7726680" cy="530352"/>
          </a:xfrm>
          <a:prstGeom prst="roundRect">
            <a:avLst>
              <a:gd name="adj" fmla="val 10345"/>
            </a:avLst>
          </a:prstGeom>
          <a:solidFill>
            <a:srgbClr val="151829"/>
          </a:solidFill>
          <a:ln w="12700">
            <a:solidFill>
              <a:srgbClr val="1518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44439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40280" y="44439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A Close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32120" y="446227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sales team, expand to regional markets, deepen financing product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expansion: Pilot → Regional → Financial Institution partnerships.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3258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1408" y="1389888"/>
            <a:ext cx="713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487168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SME importers, exporters, and LSPs onboarded directly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Malaysia, Singapore, Indonesia cross-border corridors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 economics: transaction volume, fee capture, retention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reference customers and case studies for next phase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258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3533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389888"/>
            <a:ext cx="713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2152" y="20299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Partners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487168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freight forwarders and customs agents as resellers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existing ERP/logistics platforms via API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Thailand, Vietnam, Philippines corridors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active companies, RM 50M GMV through platform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3912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1325880"/>
            <a:ext cx="2468880" cy="566928"/>
          </a:xfrm>
          <a:prstGeom prst="roundRect">
            <a:avLst>
              <a:gd name="adj" fmla="val 161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3533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54112" y="1389888"/>
            <a:ext cx="713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20299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Institutions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36792" y="2487168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TradeCycle to banks and trade finance desks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arrangement: platform + scoring 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 becomes the infrastructure layer under bank products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shift: SaaS + licensing &gt; transaction fees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Positioning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covers the full cycle — from freight payment security to trade finance capacity planning.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316736"/>
            <a:ext cx="20848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34056" y="1298448"/>
            <a:ext cx="1280160" cy="502920"/>
          </a:xfrm>
          <a:prstGeom prst="roundRect">
            <a:avLst>
              <a:gd name="adj" fmla="val 7273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1673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50792" y="1298448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05656" y="1316736"/>
            <a:ext cx="1399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96128" y="1298448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1316736"/>
            <a:ext cx="1399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41464" y="1298448"/>
            <a:ext cx="1508760" cy="502920"/>
          </a:xfrm>
          <a:prstGeom prst="roundRect">
            <a:avLst>
              <a:gd name="adj" fmla="val 7273"/>
            </a:avLst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96328" y="1316736"/>
            <a:ext cx="1399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837944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1856232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payment protection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34056" y="1837944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1856232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50792" y="1837944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5656" y="1856232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96128" y="1837944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856232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41464" y="1837944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1856232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22199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224028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payment control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34056" y="2221992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240280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50792" y="222199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2240280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96128" y="222199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240280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41464" y="222199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240280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26060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262432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shipment orchestration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34056" y="26060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2624328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50792" y="26060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05656" y="262432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96128" y="26060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262432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41464" y="26060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2624328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299008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" y="3008376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chain network visibility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34056" y="2990088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88920" y="3008376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050792" y="29900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05656" y="3008376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96128" y="29900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3008376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41464" y="29900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3008376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02920" y="3374136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" y="3392424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credit monitoring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34056" y="3374136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88920" y="339242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050792" y="3374136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05656" y="3392424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596128" y="3374136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3392424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41464" y="3374136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96328" y="3392424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02920" y="3758184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7784" y="3776472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capacity multiplier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34056" y="3758184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88920" y="3776472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050792" y="3758184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05656" y="3776472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96128" y="3758184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50992" y="3776472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141464" y="3758184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96328" y="3776472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02920" y="414223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7784" y="416052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 revenue requirement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34056" y="4142232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88920" y="4160520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050792" y="414223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05656" y="4160520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596128" y="414223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50992" y="4160520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141464" y="414223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96328" y="4160520"/>
            <a:ext cx="1399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Projections (Illustrative)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based on pilot cohort conversion rates and regional market sizing. Not audited. Subject to change.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8288" cy="2834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096512"/>
            <a:ext cx="54864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050792"/>
            <a:ext cx="624078" cy="45720"/>
          </a:xfrm>
          <a:prstGeom prst="roundRect">
            <a:avLst>
              <a:gd name="adj" fmla="val 80000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09878" y="4050792"/>
            <a:ext cx="624078" cy="45720"/>
          </a:xfrm>
          <a:prstGeom prst="roundRect">
            <a:avLst>
              <a:gd name="adj" fmla="val 8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9878" y="3794760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0.1M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4151376"/>
            <a:ext cx="12938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(Pilot)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4268" y="3873790"/>
            <a:ext cx="624078" cy="222722"/>
          </a:xfrm>
          <a:prstGeom prst="roundRect">
            <a:avLst>
              <a:gd name="adj" fmla="val 16422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4268" y="3617758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14066" y="4005804"/>
            <a:ext cx="624078" cy="90708"/>
          </a:xfrm>
          <a:prstGeom prst="roundRect">
            <a:avLst>
              <a:gd name="adj" fmla="val 4032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4066" y="3749772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2.8M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44268" y="4151376"/>
            <a:ext cx="12938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48456" y="3205625"/>
            <a:ext cx="624078" cy="890887"/>
          </a:xfrm>
          <a:prstGeom prst="roundRect">
            <a:avLst>
              <a:gd name="adj" fmla="val 5861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2949593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220M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18254" y="3659168"/>
            <a:ext cx="624078" cy="437344"/>
          </a:xfrm>
          <a:prstGeom prst="roundRect">
            <a:avLst>
              <a:gd name="adj" fmla="val 836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8254" y="3403136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13.5M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48456" y="4151376"/>
            <a:ext cx="12938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52644" y="1464346"/>
            <a:ext cx="624078" cy="2632166"/>
          </a:xfrm>
          <a:prstGeom prst="roundRect">
            <a:avLst>
              <a:gd name="adj" fmla="val 5861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2644" y="1208314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650M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22442" y="2541509"/>
            <a:ext cx="624078" cy="1555003"/>
          </a:xfrm>
          <a:prstGeom prst="roundRect">
            <a:avLst>
              <a:gd name="adj" fmla="val 586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2442" y="2285477"/>
            <a:ext cx="6240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48M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52644" y="4151376"/>
            <a:ext cx="12938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90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(Gross Merchandise Value)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457200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590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261872"/>
            <a:ext cx="2560320" cy="3657600"/>
          </a:xfrm>
          <a:prstGeom prst="roundRect">
            <a:avLst>
              <a:gd name="adj" fmla="val 2857"/>
            </a:avLst>
          </a:prstGeom>
          <a:solidFill>
            <a:srgbClr val="FAFAFE"/>
          </a:solidFill>
          <a:ln w="12700">
            <a:solidFill>
              <a:srgbClr val="FAF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3898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1810512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GMV per company: RM 280K/yr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take rate: 1.2% of GMV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facilitation: 0.8% of facilitated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churn: &lt;3% post-pilot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Y1: 20 companies (pilot cohort)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Y2: 200 companies (channel expansion)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Y3: 800 companies (SEA rollout)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RM 5M Series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scale the pilot to 500 companies, build partner integrations, and reach RM 50M GMV by end of 2027.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9456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Growth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acquisition, channel partnerships, regional expansion team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9456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29077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40156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integrations, mobile app, licensing layer for bank white-label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05740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9456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00600" y="29077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&amp; Compliance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40156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regulatory approvals, AML/KYC infrastructure per market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057400"/>
            <a:ext cx="1874520" cy="2834640"/>
          </a:xfrm>
          <a:prstGeom prst="roundRect">
            <a:avLst>
              <a:gd name="adj" fmla="val 4878"/>
            </a:avLst>
          </a:prstGeom>
          <a:solidFill>
            <a:srgbClr val="1A1D32"/>
          </a:solidFill>
          <a:ln w="12700">
            <a:solidFill>
              <a:srgbClr val="1A1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9456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29077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340156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liquidity buffer and operating runway through Series B prep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&amp; Compliance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 is a trade management and monitoring platform. We do not hold customer funds or operate as a financial institution.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709928"/>
            <a:ext cx="438912" cy="438912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1016" y="1508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Hold Funds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71016" y="1920240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execution and fund custody is handled through licensed partner banks and remittance operators. Nexum records, monitors, and releases — not custodies.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6048" y="1709928"/>
            <a:ext cx="438912" cy="43891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22976" y="15087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Credit = Record Only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22976" y="1920240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"Vendor Credit Term Recorded" means Nexum logs and monitors the term. We do not escrow, guarantee, or replace the underlying credit arrangement between buyer and supplier.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953512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24612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71016" y="30449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Simulations ≠ Commitments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71016" y="3456432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TradeCycle financing simulations are Simulation Only. Eligibility requires credit review. We never say "your deposit earns return" or "guaranteed financing."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3246120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22976" y="30449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Security by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22976" y="3456432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queries are proxied through Supabase RLS. Customers see only their own data. Admin access is scoped to service-role key — never exposed to browser.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E"/>
          </a:solidFill>
          <a:ln w="12700">
            <a:solidFill>
              <a:srgbClr val="0D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371600"/>
            <a:ext cx="5943600" cy="5943600"/>
          </a:xfrm>
          <a:prstGeom prst="ellipse">
            <a:avLst/>
          </a:prstGeom>
          <a:solidFill>
            <a:srgbClr val="3730A3">
              <a:alpha val="17000"/>
            </a:srgbClr>
          </a:solidFill>
          <a:ln w="12700">
            <a:solidFill>
              <a:srgbClr val="3730A3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38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 SECUREFLOW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Future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Trade Finance Together.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8529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open for Series A conversations. Deck, data room, and pilot access available upon NDA.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547872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661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 Room Access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224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jijielim2002@gmail.com  ·  nexumsecureflow.com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2026-07-30T02:54:21Z</dcterms:created>
  <dcterms:modified xsi:type="dcterms:W3CDTF">2026-07-30T02:54:21Z</dcterms:modified>
</cp:coreProperties>
</file>