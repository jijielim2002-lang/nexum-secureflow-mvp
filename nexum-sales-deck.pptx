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369A1">
              <a:alpha val="20000"/>
            </a:srgbClr>
          </a:solidFill>
          <a:ln w="12700">
            <a:solidFill>
              <a:srgbClr val="0369A1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194560"/>
            <a:ext cx="2560320" cy="2560320"/>
          </a:xfrm>
          <a:prstGeom prst="ellipse">
            <a:avLst/>
          </a:prstGeom>
          <a:solidFill>
            <a:srgbClr val="0891B2">
              <a:alpha val="22000"/>
            </a:srgbClr>
          </a:solidFill>
          <a:ln w="12700">
            <a:solidFill>
              <a:srgbClr val="0891B2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566160"/>
            <a:ext cx="2011680" cy="2011680"/>
          </a:xfrm>
          <a:prstGeom prst="ellipse">
            <a:avLst/>
          </a:prstGeom>
          <a:solidFill>
            <a:srgbClr val="0891B2">
              <a:alpha val="16000"/>
            </a:srgbClr>
          </a:solidFill>
          <a:ln w="12700">
            <a:solidFill>
              <a:srgbClr val="0891B2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572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NEXUM SECUREFLOW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914400"/>
            <a:ext cx="6217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with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platform for secure cross-border trade.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importers, exporters, and logistics providers.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160520"/>
            <a:ext cx="2834640" cy="438912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17880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Programme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Cross-Border Trade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Carries Hidden Risk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uncertainty, supply chain opacity, and manual coordination cost money on every deal.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9768" y="233172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24871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1208" y="30358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Risk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" y="3456432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demand full upfront payment. Buyers fear default. No neutral protection exists for either party.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33172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4871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30358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Visibility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3456432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Multi-leg shipments go dark once cargo leaves port. Status updates require chasing across multiple parties.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233172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24871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45352" y="30358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Everything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45352" y="3456432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release, payment proof, and milestone tracking are all done by email, WhatsApp, and spreadsheet.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Complete Trade Cycle.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integrated modules covering every stage from inquiry to settlement.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" y="1298448"/>
            <a:ext cx="1828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38988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4652" y="1865376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SecureFlow Jobs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4652" y="2212848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Milestone-based payment for logistics services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28900" y="1298448"/>
            <a:ext cx="1828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8900" y="138988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02052" y="1865376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TradeFlow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02052" y="2212848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payment control &amp; document release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86300" y="1298448"/>
            <a:ext cx="1828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6300" y="138988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9452" y="1865376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9452" y="2212848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RFQ, quoting &amp; provider discovery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43700" y="1298448"/>
            <a:ext cx="1828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3700" y="138988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16852" y="1865376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Shipment Bundles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16852" y="2212848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Multi-leg orchestration &amp; per-leg payment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00200" y="2907792"/>
            <a:ext cx="1828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299923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73352" y="3474720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Chains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73352" y="3822192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&amp; privacy masking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0" y="2907792"/>
            <a:ext cx="1828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299923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730752" y="3474720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Credit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30752" y="3822192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monitoring &amp; verified payment history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715000" y="2907792"/>
            <a:ext cx="1828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299923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788152" y="3474720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TradeCycle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88152" y="3822192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capacity planning &amp; financing simulations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3254"/>
          </a:solidFill>
          <a:ln w="12700">
            <a:solidFill>
              <a:srgbClr val="0A32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5943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Importers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Exporters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0" y="290779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every deal from first payment to final delivery.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34290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TradeFlow — Supplier payment control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Bundles — Multi-leg orchestration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Chain Network — Supply chain visibility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Credit Terms — Payment history builder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TradeCycle — Capital &amp; capacity planning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3891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Payment Control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when and how you release supplier payments — tied to documents, not just time.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51460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payment release to document upload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notified on each tranche release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per transaction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flow with admin mediation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 via licensed partner network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86200" y="3474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86200" y="82296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41648" y="1170432"/>
            <a:ext cx="457200" cy="4572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41648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914400"/>
            <a:ext cx="4096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Initiate TradeFlow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1280160"/>
            <a:ext cx="40965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payment record with supplier details, currency, and required document triggers for each tranche.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86200" y="2212848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41648" y="2560320"/>
            <a:ext cx="457200" cy="4572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164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2304288"/>
            <a:ext cx="4096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&amp; Release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2670048"/>
            <a:ext cx="40965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payment proof. Supplier uploads trade documents. System logs the release action with timestamp.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86200" y="3602736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41648" y="3950208"/>
            <a:ext cx="457200" cy="4572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4164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17720" y="3694176"/>
            <a:ext cx="4096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 &amp; Score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4059936"/>
            <a:ext cx="40965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confirmed. Audit log updated. Supplier behaviour score adjusted based on fulfilment speed.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Shipment Bundles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multi-leg shipments with per-leg payment allocation, status tracking, and cashflow simulation.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35808" y="2029968"/>
            <a:ext cx="283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824728" y="2029968"/>
            <a:ext cx="283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356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892808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2276856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→ 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2578608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Freight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2971800"/>
            <a:ext cx="2139696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81528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3364992"/>
            <a:ext cx="21396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8,000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3232" y="3858768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per-leg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completion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128016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41732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4356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In Transit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02152" y="1892808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 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02152" y="2276856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→ Vessel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02152" y="2578608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Freight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02152" y="2971800"/>
            <a:ext cx="2139696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02152" y="3081528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02152" y="3364992"/>
            <a:ext cx="21396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42,000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502152" y="3858768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per-leg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completion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128016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141732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14356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Pending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91072" y="1892808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 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91072" y="2276856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→ Warehouse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91072" y="2578608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Mile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91072" y="2971800"/>
            <a:ext cx="2139696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3081528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91072" y="3364992"/>
            <a:ext cx="21396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6,500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291072" y="3858768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per-leg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completion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4873752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payment models: Full Upfront · Deposit+Balance · Milestone · Vendor Credit Term. Cashflow simulation available before committing.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Chain Network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entire supply chain from factory to end customer — with privacy controls per node.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" y="137160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716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66544" y="1463040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58568" y="137160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58568" y="13716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73552" y="1463040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65576" y="137160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13716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463040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72584" y="137160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3716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87568" y="1463040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79592" y="137160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13716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94576" y="1463040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86600" y="137160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13716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212848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35915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" y="28346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Masking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218688"/>
            <a:ext cx="1691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visibility to Full, Masked, or Hidden per node — protect sensitive supplier relationships.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2212848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235915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51760" y="28346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Per-Node Financing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51760" y="3218688"/>
            <a:ext cx="1691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trade finance requirements at each chain link. Identify funding gaps before they occur.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212848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35915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800600" y="28346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Multi-Country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218688"/>
            <a:ext cx="1691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Factory → Freight → Importer → Distributor chains spanning multiple jurisdictions.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2212848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235915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949440" y="28346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Analytics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3218688"/>
            <a:ext cx="1691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amount, payment terms, and expected payment date tracked per supply chain link.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Credit Terms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have supplier credit terms? Record, monitor, and build a verified payment history — without changing your existing arrangement.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7904" y="1536192"/>
            <a:ext cx="530352" cy="53035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7904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&amp; Monitor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679192"/>
            <a:ext cx="213969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invoice date, credit days, and due date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Auto-computed due date from invoice + credit days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Not Due → Due Soon → Overdue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shows your exposure across all buyers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389888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6824" y="1536192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06824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22128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Reminders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02152" y="2679192"/>
            <a:ext cx="213969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 timeline: 7 days, 3 days, due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alerts with escalation to admin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proof of payment after settling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reference stored for audit trail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389888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95744" y="153619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95744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63640" y="22128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Payment History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1072" y="2679192"/>
            <a:ext cx="213969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Behaviour Score updated on every payment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for on-time, -3 for moderate late, -10 for dispute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trade payment history — no bank required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visible to platform — builds credibility for finance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754880"/>
            <a:ext cx="8138160" cy="27432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77316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Nexum does not hold funds or replace your credit arrangement. "Vendor Credit Term Recorded" means we track and remind — not escrow.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how much trade your balance can support — before committing to any deal.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Balance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120K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52374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allocate to new trade obligations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53312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463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Multiplier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2.4×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29000" y="252374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capacity relative to your balance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353312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463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Gap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30K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09360" y="252374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shortfall — simulation ready for review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38328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930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Analysis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18795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proposed trade value and tenor. Get recommended payment model and risk rating.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0" y="338328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34930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51760" y="387705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Financing Simulations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418795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simulation types including supplier deposit, deferment, and receivables. Fee estimates included.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338328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4930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00600" y="387705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Reserve Per Trade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418795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down a portion of your balance for a specific obligation. Prevents accidental overcommitment.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0" y="338328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34930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49440" y="387705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418795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wallet movement, reserve action, and capacity analysis is logged for compliance review.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491947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capacity is an estimate only. Financing simulations are subject to credit review and approval. Not a guarantee of funding.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3254"/>
          </a:solidFill>
          <a:ln w="12700">
            <a:solidFill>
              <a:srgbClr val="0A32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5943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Logistics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Providers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0" y="290779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discovered, quote accurately, and get paid on milestones — not at the end.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34290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Marketplace — Get listed &amp; discovered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System — Receive and convert quote requests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SecureFlow Jobs — Milestone-based payment security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payment confirmation before execution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and mediation module built 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Marketplace &amp; RFQ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listed on the Nexum marketplace, receive quote requests, and convert them to secured jobs with one click.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2628" y="1325880"/>
            <a:ext cx="2514600" cy="36118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3896" y="1481328"/>
            <a:ext cx="512064" cy="51206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3896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4068" y="213969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2356" y="2596896"/>
            <a:ext cx="2295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Listed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2356" y="2971800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provider profile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7220" y="3310128"/>
            <a:ext cx="218541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services: ocean, air, land, customs, warehouse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routes, capacities, and service descriptions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by importers and exporters on the platform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4700" y="1325880"/>
            <a:ext cx="2514600" cy="36118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5968" y="1481328"/>
            <a:ext cx="512064" cy="51206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06140" y="213969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4428" y="2596896"/>
            <a:ext cx="2295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 RFQs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4428" y="2971800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on matched requests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9292" y="3310128"/>
            <a:ext cx="218541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post RFQs with cargo specs and routes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submit a competitive quote with validity period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includes breakdown: freight, handling, insurance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6772" y="1325880"/>
            <a:ext cx="2514600" cy="36118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1481328"/>
            <a:ext cx="512064" cy="51206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8212" y="213969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86500" y="2596896"/>
            <a:ext cx="2295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&amp; Execute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86500" y="2971800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a secured job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41364" y="3310128"/>
            <a:ext cx="218541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accepts quote — converts to SecureFlow job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confirmed before you begin execution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released on milestone confirmation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389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SecureFlow Jobs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Milestone-Based Payment Security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start executing once deposit is confirmed. Balance is released only after the customer confirms delivery — not before.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578608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confirmed before execution begins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payment triggered on milestone status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Disputed jobs held for admin mediation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payment history and job audit trail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acceptance flow built 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51960" y="3474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Journey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905256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905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2836" y="1252728"/>
            <a:ext cx="4572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052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 Accepted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234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accepts your quote and terms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51960" y="156362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6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02836" y="1911096"/>
            <a:ext cx="4572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5636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Deposit Confirmed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892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proof uploaded and verified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1960" y="2221992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02836" y="2569464"/>
            <a:ext cx="4572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219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Execution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5511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cleared to begin the job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2880360"/>
            <a:ext cx="347472" cy="34747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02836" y="3227832"/>
            <a:ext cx="4572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In Progress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2095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updated at each milestone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3538728"/>
            <a:ext cx="347472" cy="347472"/>
          </a:xfrm>
          <a:prstGeom prst="ellipse">
            <a:avLst/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5196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02836" y="3886200"/>
            <a:ext cx="4572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38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3867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confirms delivery receipt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51960" y="4197096"/>
            <a:ext cx="347472" cy="347472"/>
          </a:xfrm>
          <a:prstGeom prst="ellipse">
            <a:avLst/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51960" y="4197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41970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Released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0" y="4526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payment confirmed and settled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Choose Nexum SecureFlow?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no other platform gives you together.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1481328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Coverage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1945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service inquiry to supplier payment — every step from marketplace discovery to final settlement lives in one platform. No handoffs to email.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32588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481328"/>
            <a:ext cx="548640" cy="54864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22128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Protection First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697480"/>
            <a:ext cx="21945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job, every trade, every supplier payment has a structured release trigger. You never pay for work not done. You never withhold without reason.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86600" y="1481328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22128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Finance Readiness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697480"/>
            <a:ext cx="21945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TradeCycle builds your wallet, tracks capacity, and generates financing simulations. When you are ready to access credit, your track record is already there.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731520"/>
            <a:ext cx="4572000" cy="4572000"/>
          </a:xfrm>
          <a:prstGeom prst="ellipse">
            <a:avLst/>
          </a:prstGeom>
          <a:solidFill>
            <a:srgbClr val="0369A1">
              <a:alpha val="18000"/>
            </a:srgbClr>
          </a:solidFill>
          <a:ln w="12700">
            <a:solidFill>
              <a:srgbClr val="0369A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2286000"/>
            <a:ext cx="3200400" cy="32004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NEXUM SECUREFLOW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Trading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Confidence.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pilot programme today. Set up your account, connect your first trade,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experience structured payment protection in your next deal.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502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Pilot Access 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nexumsecureflow.com  ·  pilot@nexum.io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2026-07-30T02:49:31Z</dcterms:created>
  <dcterms:modified xsi:type="dcterms:W3CDTF">2026-07-30T02:49:31Z</dcterms:modified>
</cp:coreProperties>
</file>